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double-charge story: provider charges, response is lost, handler retries blindly. Say: benchmarks never test this path. Pause, then the gap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aim once, slowly. Walk the five objectives quickly; each maps to a chapter and to a results table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three prior strands in one breath each. Land on the gap formula: done A/B/C, none done D, therefore propose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not surveys: opinions about resilience are a poor substitute for measured findings on code. Say that only if pushed.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across the diagram. Emphasise: one server, any agent; the check costs nothing and never varies.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single manipulated variable: the only difference between arms is whether the server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qualifies the instrument: the harness sees improvement where improvement exists, so trust it on the blind study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slide. Say the three numbers slowly. If asked about the regressions: one is the documented upsert false positive, the rest are the tool catching unsafe retries the agent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lessons, one breath each. The objectives table is in the report; here just assert the mapping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artifact: code, paper, DOI all public. Then stop talking and take questions. If asked about limits, go straight to the adversarial boundary — owning it is the strongest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C98A1F"/>
                </a:solidFill>
                <a:latin typeface="Calibri"/>
              </a:rPr>
              <a:t>MIVA OPEN UNIVERSITY  ·  SCHOOL OF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DESIGN AND IMPLEMENTATION OF A DETERMINISTIC</a:t>
            </a:r>
          </a:p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FAILURE-MODE GUARDRAIL SYSTEM FOR AI-GENERATED</a:t>
            </a:r>
          </a:p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SOFTWARE USING MODEL CONTEXT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4160520"/>
            <a:ext cx="2313432" cy="502920"/>
          </a:xfrm>
          <a:prstGeom prst="roundRect">
            <a:avLst>
              <a:gd name="adj" fmla="val 50000"/>
            </a:avLst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3A5C"/>
                </a:solidFill>
                <a:latin typeface="Calibri"/>
              </a:rPr>
              <a:t>2023/C/SENG/0351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601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OLUWAMAYOWA KALEJAIYE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Supervisor: Ijegwa Acheme, Ph.D   ·   July,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Agents write code that runs — not code that survives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Coding agents learn from tutorials, which never show the failure.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Benchmarks score correctness on exercised paths — never resilience.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Ambiguous outcomes (charged? lost?) become double charges and lost work.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No deterministic, evidence-backed guardrails reach agents as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3387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1B3A5C"/>
                </a:solidFill>
                <a:latin typeface="Calibri"/>
              </a:rPr>
              <a:t>A payment handler that passes every test and double-charges on retry is a success under every standard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02 ·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Build the checking layer benchmarks never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1672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Aim: design, implement, and evaluate deterministic failure-mode guardrails for AI-generated software.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>
                <a:solidFill>
                  <a:srgbClr val="262626"/>
                </a:solidFill>
                <a:latin typeface="Calibri"/>
              </a:rPr>
              <a:t>1. Investigate failure modes and existing guardrail approaches.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>
                <a:solidFill>
                  <a:srgbClr val="262626"/>
                </a:solidFill>
                <a:latin typeface="Calibri"/>
              </a:rPr>
              <a:t>2. Design an invariant-based guardrail framework.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3. Develop it as a Model Context Protocol server.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4. Implement a deterministic evaluation harness.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5. Evaluate through proxy and blind agent studies.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03 ·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Everything exists except the connection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Correctness benchmarks (HumanEval, SWE-bench) never score resilience.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Pattern-selection DSS compare technologies — they never check generated code.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Resilience canons catalogue controls as knowledge, not as checks.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Gap: nobody connects deterministic guardrails to the agents producing the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3387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1B3A5C"/>
                </a:solidFill>
                <a:latin typeface="Calibri"/>
              </a:rPr>
              <a:t>Done A, B, C — but none done D. Therefore propose 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Build the artefact, then measure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Design Science Research: build, then evaluate — not surveys, not opinion.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Agile: rules, tools, and harness co-evolved through iterations.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Data: 17 matched pairs + 6 proxy + 6 adversarial cases.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Instrument: one harness, ten criteria, frozen prompts and manifests.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17</a:t>
            </a:r>
          </a:p>
          <a:p>
            <a:pPr algn="ctr"/>
            <a:r>
              <a:rPr sz="1200">
                <a:solidFill>
                  <a:srgbClr val="C98A1F"/>
                </a:solidFill>
                <a:latin typeface="Calibri"/>
              </a:rPr>
              <a:t>matched pairs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55448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10</a:t>
            </a:r>
          </a:p>
          <a:p>
            <a:pPr algn="ctr"/>
            <a:r>
              <a:rPr sz="1200">
                <a:solidFill>
                  <a:srgbClr val="C98A1F"/>
                </a:solidFill>
                <a:latin typeface="Calibri"/>
              </a:rPr>
              <a:t>scored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52044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6+6</a:t>
            </a:r>
          </a:p>
          <a:p>
            <a:pPr algn="ctr"/>
            <a:r>
              <a:rPr sz="1200">
                <a:solidFill>
                  <a:srgbClr val="C98A1F"/>
                </a:solidFill>
                <a:latin typeface="Calibri"/>
              </a:rPr>
              <a:t>scenarios + adversarial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20440"/>
            <a:ext cx="2514600" cy="17373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1200">
                <a:solidFill>
                  <a:srgbClr val="C98A1F"/>
                </a:solidFill>
                <a:latin typeface="Calibri"/>
              </a:rPr>
              <a:t>commercial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05 ·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One server, any agent, zero token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Knowledge base: 11 principles, 10 rule families, versioned JSON.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Deterministic engine: review and score — never hallucinates.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13 MCP tools: any compliant agent calls them; findings carry evidence.</a:t>
            </a:r>
          </a:p>
        </p:txBody>
      </p:sp>
      <p:pic>
        <p:nvPicPr>
          <p:cNvPr id="8" name="Picture 7" descr="fig3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06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One variable changed, everything else frozen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Same 6 prompts, two arms: baseline vs guardrails connected.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Claude, Cursor, Codex — 17 matched pairs, no per-agent tuning.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Frozen prompt hashes, manifests, commits — fully reproducible.</a:t>
            </a:r>
          </a:p>
        </p:txBody>
      </p:sp>
      <p:pic>
        <p:nvPicPr>
          <p:cNvPr id="8" name="Picture 7" descr="fig34_eva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07 · RESULTS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The instrument sees improvement where it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CRITICAL 7 → 3, HIGH 7 → 0 across six scenarios.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Payment and webhook: 3 → 0 CRITICAL each.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Architecture 1.0 throughout — nothing bought with infrastructure.</a:t>
            </a:r>
          </a:p>
        </p:txBody>
      </p:sp>
      <p:pic>
        <p:nvPicPr>
          <p:cNvPr id="8" name="Picture 7" descr="fig41_pro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3387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1B3A5C"/>
                </a:solidFill>
                <a:latin typeface="Calibri"/>
              </a:rPr>
              <a:t>This qualifies the harness — so trust it on the blind study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08 · RESULTS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Consistent direction across all three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16 of 17 pairs improved on at least one criterion.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HIGH findings never rose — and fell 13 → 1 overall.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Adversarial probe: 4 of 6 flagged at CRITICAL; limits documented.</a:t>
            </a:r>
          </a:p>
        </p:txBody>
      </p:sp>
      <p:pic>
        <p:nvPicPr>
          <p:cNvPr id="8" name="Picture 7" descr="fig42_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3387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1B3A5C"/>
                </a:solidFill>
                <a:latin typeface="Calibri"/>
              </a:rPr>
              <a:t>Direction holds per agent: 6/6, 5/5, 5/6 — no single model carries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09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Three lessons, five objectives 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Checks beat judges: deterministic output cannot hallucinate.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Early beats late: plan review reshaped designs; code review patched them.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98A1F"/>
                </a:solidFill>
                <a:latin typeface="Calibri"/>
              </a:rPr>
              <a:t>▸ </a:t>
            </a:r>
            <a:r>
              <a:rPr sz="1800" b="1">
                <a:solidFill>
                  <a:srgbClr val="1B3A5C"/>
                </a:solidFill>
                <a:latin typeface="Calibri"/>
              </a:rPr>
              <a:t>More code is the mechanism: +39% volume is pending records and reconciliation — the resilience itself.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83464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t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anchor="t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anchor="t">
                    <a:solidFill>
                      <a:srgbClr val="1B3A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 Investigate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Ch. 2, Table 2.1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t"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 Design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Ch. 3, Figs 3.1–3.2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t"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 Develop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Ch. 4, server + tools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t"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 Harness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Ch. 3–4, 10 criteria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t"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 Evaluate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Tables 4.2–4.4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8A1F"/>
                </a:solidFill>
                <a:latin typeface="Calibri"/>
              </a:rPr>
              <a:t>10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3A5C"/>
                </a:solidFill>
                <a:latin typeface="Calibri"/>
              </a:rPr>
              <a:t>A cheap, reproducible floor for resilience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810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Failures — Final Year Project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1672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Deterministic guardrails measurably improve agent-generated resilience.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Recommend: review plans before code; ship checks as tools, not judges.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C98A1F"/>
                </a:solidFill>
                <a:latin typeface="Calibri"/>
              </a:rPr>
              <a:t>▸ </a:t>
            </a:r>
            <a:r>
              <a:rPr sz="1900" b="1">
                <a:solidFill>
                  <a:srgbClr val="1B3A5C"/>
                </a:solidFill>
                <a:latin typeface="Calibri"/>
              </a:rPr>
              <a:t>Next: AST-level rules, enforced tool use, live-provider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github.com/mayowa-kalejaiye/Failures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89204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doi.org/10.5281/zenodo.22966362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892040"/>
            <a:ext cx="3520440" cy="566928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failures-mcp on PyPI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B3A5C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